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8EEF5"/>
                </a:solidFill>
                <a:latin typeface="Segoe UI"/>
              </a:rPr>
              <a:t>SOVEREIGN OEKOLOPOLY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8CFF"/>
                </a:solidFill>
                <a:latin typeface="Segoe UI"/>
              </a:rPr>
              <a:t>Evo 9 — Direkter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FB0C0"/>
                </a:solidFill>
                <a:latin typeface="Segoe UI"/>
              </a:rPr>
              <a:t>Paper-MCTS  vs.  Nasuta  vs.  Sovereign-System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EF5"/>
                </a:solidFill>
                <a:latin typeface="Segoe UI"/>
              </a:rPr>
              <a:t>Ein kybernetischer Regelkreis schlägt reine Optimierung.</a:t>
            </a:r>
          </a:p>
          <a:p>
            <a:pPr algn="ctr"/>
            <a:r>
              <a:rPr sz="1300" b="0" i="0">
                <a:solidFill>
                  <a:srgbClr val="E8EEF5"/>
                </a:solidFill>
                <a:latin typeface="Segoe UI"/>
              </a:rPr>
              <a:t>30-Runden-Überleben in der Malthusianischen Falle.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0C0"/>
                </a:solidFill>
                <a:latin typeface="Segoe UI"/>
              </a:rPr>
              <a:t>Shubham Jayswal ·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Oekolopoly: 30 Runden überleben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Jede positive Rückkopplung (mehr Produktion → mehr AP → mehr Wachstum) treibt das System in den Kollaps. Reine Reward-Maximierung stirbt früh.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212080" cy="274320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A5A"/>
                </a:solidFill>
                <a:latin typeface="Segoe UI"/>
              </a:rPr>
              <a:t>Todesbedingungen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✕  Politik  &lt; −10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✕  Environment  &gt; 29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✕  Population  &gt; 60  oder  &lt; 13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✕  AP  &lt;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51760"/>
            <a:ext cx="5212080" cy="274320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C46A"/>
                </a:solidFill>
                <a:latin typeface="Segoe UI"/>
              </a:rPr>
              <a:t>Golden Equilibrium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✓  Sanitation 20 · Production 12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✓  Education 15–21 · QoL 17–20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✓  Population 34 · Environment 24</a:t>
            </a:r>
          </a:p>
          <a:p>
            <a:pPr algn="l"/>
            <a:r>
              <a:rPr sz="1300" b="0" i="0">
                <a:solidFill>
                  <a:srgbClr val="E8EEF5"/>
                </a:solidFill>
                <a:latin typeface="Segoe UI"/>
              </a:rPr>
              <a:t>✓  Stabilitäts-Korridor [10, 22]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DIE KONTRAHENTEN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Drei Strategien im selben Spiel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00200"/>
            <a:ext cx="3474720" cy="42062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A5A"/>
                </a:solidFill>
                <a:latin typeface="Segoe UI"/>
              </a:rPr>
              <a:t>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EF5"/>
                </a:solidFill>
                <a:latin typeface="Segoe UI"/>
              </a:rPr>
              <a:t>Vanilla 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FB0C0"/>
                </a:solidFill>
                <a:latin typeface="Segoe UI"/>
              </a:rPr>
              <a:t>Offener Regelkreis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Gierige AP-Maximierung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Keine Constraints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Keine Begründung (Black Box)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→ stirbt Runde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600200"/>
            <a:ext cx="3474720" cy="42062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A23A"/>
                </a:solidFill>
                <a:latin typeface="Segoe UI"/>
              </a:rPr>
              <a:t>Nasuta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EF5"/>
                </a:solidFill>
                <a:latin typeface="Segoe UI"/>
              </a:rPr>
              <a:t>Reference gymcts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FB0C0"/>
                </a:solidFill>
                <a:latin typeface="Segoe UI"/>
              </a:rPr>
              <a:t>Neuronale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089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Trainiertes Netz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Keine Sicherheits-Rückmeldung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Kein BURN-Mechanismus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→ Baseline (3-way)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474720" cy="42062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6C46A"/>
                </a:solidFill>
                <a:latin typeface="Segoe UI"/>
              </a:rPr>
              <a:t>Sovereign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EF5"/>
                </a:solidFill>
                <a:latin typeface="Segoe UI"/>
              </a:rPr>
              <a:t>Tri-Core 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FB0C0"/>
                </a:solidFill>
                <a:latin typeface="Segoe UI"/>
              </a:rPr>
              <a:t>Geschlossener Regelkreis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1089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RecurrentPPO + MCTS + Guardian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Soft-Constraints + AP-Burn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XAI: jede Aktion begründet</a:t>
            </a:r>
          </a:p>
          <a:p>
            <a:pPr algn="l"/>
            <a:r>
              <a:rPr sz="1100" b="0" i="0">
                <a:solidFill>
                  <a:srgbClr val="E8EEF5"/>
                </a:solidFill>
                <a:latin typeface="Segoe UI"/>
              </a:rPr>
              <a:t>· → 30 Runden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Sovereign Tri-Core Swarm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601200" cy="43414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ERGEBNIS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Überlebte Runden (gemessen)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492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FB0C0"/>
                </a:solidFill>
                <a:latin typeface="Segoe UI"/>
              </a:rPr>
              <a:t>Paper vs. Sovereign MCTS: identischer Startzustand → direkt vergleichbar (2 → 9, +350%). Sovereign Full (30) = volle Hybrid-Konfiguration. Nasuta folgt im 3-Wege-Lauf.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ERGEBNIS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Equilibrium-Score pro Runde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equilib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492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FB0C0"/>
                </a:solidFill>
                <a:latin typeface="Segoe UI"/>
              </a:rPr>
              <a:t>Soft-Constraints halten den Score länger im Spiel: Sovereign überlebt 4,5× länger, bevor die Umwelt-Grenze greift. Sterben ist im Benchmark erlaubt (ehrliches A/B).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ERGEBNIS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Sovereign Full: 30 Runden am Abgrund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492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FB0C0"/>
                </a:solidFill>
                <a:latin typeface="Segoe UI"/>
              </a:rPr>
              <a:t>12 BURN-Events drosseln die Produktion und brechen die positive Rückkopplung. Politik wird per Notfallkorrektur an der 29-Grenze gehalten — kontrolliertes Oszillieren statt freiem Fall.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UNSER BEITRAG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Was wir anders machen als Paper &amp; Nasuta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0020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099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Geschlossener Regelkreis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Sensorik → Kompensation → Aktion statt offener Optimierung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160020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17099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Soft-Constraints +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79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Politik/Umwelt: nicht nur 0 ist schlecht — der Gradient zählt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AP-Burn-Mechanik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drosselt Produktion, bricht die Malthusianische Overflow-Falle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01752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3127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Stability Corridor + Guardian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Veto-Filter hält Sektoren im Korridor [10, 22]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sovereign_mode 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ehrliches A/B-Benchmark — Sterben ausdrücklich erlaubt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4434840"/>
            <a:ext cx="5303520" cy="123444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4544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EF5"/>
                </a:solidFill>
                <a:latin typeface="Segoe UI"/>
              </a:rPr>
              <a:t>▸ XAI-Logging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49834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B0C0"/>
                </a:solidFill>
                <a:latin typeface="Segoe UI"/>
              </a:rPr>
              <a:t>jede Entscheidung begründet — Nasuta bleibt 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Von Evo 1 bis Evo 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3108960"/>
            <a:ext cx="1069848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3152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1 DeepRollout</a:t>
            </a:r>
          </a:p>
        </p:txBody>
      </p:sp>
      <p:sp>
        <p:nvSpPr>
          <p:cNvPr id="8" name="Oval 7"/>
          <p:cNvSpPr/>
          <p:nvPr/>
        </p:nvSpPr>
        <p:spPr>
          <a:xfrm>
            <a:off x="205740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2 RewardShaper</a:t>
            </a:r>
          </a:p>
        </p:txBody>
      </p:sp>
      <p:sp>
        <p:nvSpPr>
          <p:cNvPr id="10" name="Oval 9"/>
          <p:cNvSpPr/>
          <p:nvPr/>
        </p:nvSpPr>
        <p:spPr>
          <a:xfrm>
            <a:off x="3383279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3 ActionMasker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4 HyperTuner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5 Curriculum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6 Ensemble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7 PureXAI</a:t>
            </a:r>
          </a:p>
        </p:txBody>
      </p:sp>
      <p:sp>
        <p:nvSpPr>
          <p:cNvPr id="20" name="Oval 19"/>
          <p:cNvSpPr/>
          <p:nvPr/>
        </p:nvSpPr>
        <p:spPr>
          <a:xfrm>
            <a:off x="10012680" y="3017520"/>
            <a:ext cx="182880" cy="182880"/>
          </a:xfrm>
          <a:prstGeom prst="ellipse">
            <a:avLst/>
          </a:prstGeom>
          <a:solidFill>
            <a:srgbClr val="6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EF5"/>
                </a:solidFill>
                <a:latin typeface="Segoe UI"/>
              </a:rPr>
              <a:t>8 Equilibrium</a:t>
            </a:r>
          </a:p>
        </p:txBody>
      </p:sp>
      <p:sp>
        <p:nvSpPr>
          <p:cNvPr id="22" name="Oval 21"/>
          <p:cNvSpPr/>
          <p:nvPr/>
        </p:nvSpPr>
        <p:spPr>
          <a:xfrm>
            <a:off x="11338560" y="3017520"/>
            <a:ext cx="182880" cy="182880"/>
          </a:xfrm>
          <a:prstGeom prst="ellipse">
            <a:avLst/>
          </a:prstGeom>
          <a:solidFill>
            <a:srgbClr val="46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6C46A"/>
                </a:solidFill>
                <a:latin typeface="Segoe UI"/>
              </a:rPr>
              <a:t>9 BugFix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8503920" cy="1371600"/>
          </a:xfrm>
          <a:prstGeom prst="round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7091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6C46A"/>
                </a:solidFill>
                <a:latin typeface="Segoe UI"/>
              </a:rPr>
              <a:t>Evo 9 BugFix — die entscheidenden Korrekturen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1663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EF5"/>
                </a:solidFill>
                <a:latin typeface="Segoe UI"/>
              </a:rPr>
              <a:t>Runden-Zähler (zählt Runden, nicht AP-Schritte) · V-Index-Fix (Produktion = V[1]) · sovereign_mode für ehrliches A/B-Benchmark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8CFF"/>
                </a:solidFill>
                <a:latin typeface="Segoe UI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5"/>
                </a:solidFill>
                <a:latin typeface="Segoe UI"/>
              </a:rPr>
              <a:t>Bewiesen, offen, als Nächstes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25880"/>
            <a:ext cx="11064240" cy="0"/>
          </a:xfrm>
          <a:prstGeom prst="bentConnector3">
            <a:avLst/>
          </a:prstGeom>
          <a:ln w="25400">
            <a:solidFill>
              <a:srgbClr val="6C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554480"/>
            <a:ext cx="5212080" cy="219456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C46A"/>
                </a:solidFill>
                <a:latin typeface="Segoe UI"/>
              </a:rPr>
              <a:t>✓  Bewiesen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Sovereign-Mechanik: 2 → 9 Runden (+350%)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Volles System: 30 Runden Survival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Kybernetik schlägt Optimierung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2194560"/>
          </a:xfrm>
          <a:prstGeom prst="roundRect">
            <a:avLst/>
          </a:prstGeom>
          <a:solidFill>
            <a:srgbClr val="1B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A23A"/>
                </a:solidFill>
                <a:latin typeface="Segoe UI"/>
              </a:rPr>
              <a:t>○  Offen / ehrlich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Dedizierte Nasuta-Baseline fehlt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30 vs 9: nicht gleicher Seed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9-Runden-Lauf kollabiert noch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Keine Multi-Seed-CIs (n=1)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0972800" cy="1828800"/>
          </a:xfrm>
          <a:prstGeom prst="round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8CFF"/>
                </a:solidFill>
                <a:latin typeface="Segoe UI"/>
              </a:rPr>
              <a:t>→  Als Nächstes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Jules: 3-Wege-Benchmark (Paper · Nasuta · Sovereign) + Paper-Diagramm-Overlay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Gemini: Multi-Seed-Läufe (n=20) → Konfidenzintervalle</a:t>
            </a:r>
          </a:p>
          <a:p>
            <a:pPr algn="l"/>
            <a:r>
              <a:rPr sz="1150" b="0" i="0">
                <a:solidFill>
                  <a:srgbClr val="E8EEF5"/>
                </a:solidFill>
                <a:latin typeface="Segoe UI"/>
              </a:rPr>
              <a:t>· Evo 10: death-allowed Retraining des Champions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FB0C0"/>
                </a:solidFill>
                <a:latin typeface="Segoe UI"/>
              </a:rPr>
              <a:t>Sovereign Oekolopoly · Evo 9 · Shubham Jayswal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FB0C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